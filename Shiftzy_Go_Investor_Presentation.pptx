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6975" y="0"/>
            <a:ext cx="3474720" cy="685800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Shiftzy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6A2C"/>
                </a:solidFill>
                <a:latin typeface="Calibri"/>
              </a:rPr>
              <a:t>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C4DE"/>
                </a:solidFill>
                <a:latin typeface="Calibri"/>
              </a:rPr>
              <a:t>India's Smart Vehicle Shifting &amp;
Travel Cost-Sharing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5029200" cy="36576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8C8"/>
                </a:solidFill>
                <a:latin typeface="Calibri"/>
              </a:rPr>
              <a:t>Investor &amp; Stakeholder Presentation  ·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6A2C"/>
                </a:solidFill>
                <a:latin typeface="Calibri"/>
              </a:rPr>
              <a:t>4,370+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Trusted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0175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6A2C"/>
                </a:solidFill>
                <a:latin typeface="Calibri"/>
              </a:rP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Routes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6634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6A2C"/>
                </a:solidFill>
                <a:latin typeface="Calibri"/>
              </a:rPr>
              <a:t>₹8K→₹4K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Cost Saving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We'll
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548640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548640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640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731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1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1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3735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82879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Our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834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How It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4047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84047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9319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0233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Market Opportunity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93775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93775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502919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1206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Business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48640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548640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640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731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Insurance Partnership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64591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64591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173735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82879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Financial Projections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743200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743200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2834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Growth 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84047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84047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39319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0233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Why Invest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937759"/>
            <a:ext cx="3474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4937759"/>
            <a:ext cx="54864" cy="8229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502919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C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1206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3737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Every Day, Indians Face Two Expensive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3949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373737"/>
                </a:solidFill>
                <a:latin typeface="Calibri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VEHICLE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373737"/>
                </a:solidFill>
                <a:latin typeface="Calibri"/>
              </a:rPr>
              <a:t>Need to move their car, bike, or SUV
to another city — but options are painful: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🚛  Truck/trailer carrier → ₹8,000 – ₹30,000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👤  Hire a stranger driver → Safety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🛣️  Drive it yourself → Costs time &amp;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7355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🚛  Truck/trailer carrier → ₹8,000 – ₹30,000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0390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👤  Hire a stranger driver → Safety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34256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🛣️  Drive it yourself → Costs time &amp;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😓  No trusted, affordable alternative exists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37160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371600"/>
            <a:ext cx="5394960" cy="640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417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373737"/>
                </a:solidFill>
                <a:latin typeface="Calibri"/>
              </a:rPr>
              <a:t>✈️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128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497D"/>
                </a:solidFill>
                <a:latin typeface="Calibri"/>
              </a:rPr>
              <a:t>TRAVELERS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51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373737"/>
                </a:solidFill>
                <a:latin typeface="Calibri"/>
              </a:rPr>
              <a:t>Pay the full cost of intercity travel —
fuel, tolls, food, tickets — alone: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27355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⛽  Full fuel + toll → ₹2,500 – ₹10,000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80390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🎫  Train/bus + last-mile taxi → ₹1,800+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34256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⏱️  Long journey, high cost, zero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646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3737"/>
                </a:solidFill>
                <a:latin typeface="Calibri"/>
              </a:rPr>
              <a:t>💸  No way to offset your travel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989320"/>
            <a:ext cx="7589520" cy="658368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603504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₹50,000 Crore+  lost every year across India in unoptimised vehicle transport &amp; solo travel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Introducing Shiftzy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A2C"/>
                </a:solidFill>
                <a:latin typeface="Calibri"/>
              </a:rPr>
              <a:t>One App. Two Winners. Half the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029200" cy="42062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6A2C"/>
                </a:solidFill>
                <a:latin typeface="Calibri"/>
              </a:rPr>
              <a:t>🚗
VEHICLE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Posts vehicle shift request
Pickup &amp; drop city
Vehicle details + photos
Preferred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✅  Pays only 50% of fuel + toll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✅  Vehicle safely shifted by verified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56032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C"/>
                </a:solidFill>
                <a:latin typeface="Calibri"/>
              </a:rPr>
              <a:t>🤝
SHIFTZY GO
MATCHES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737360"/>
            <a:ext cx="5029200" cy="42062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6AB"/>
                </a:solidFill>
                <a:latin typeface="Calibri"/>
              </a:rPr>
              <a:t>🧳
TRAVELER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834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Browses open shift requests
Applies to drive on same route
Verified via KYC + DL check
Payment through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663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✅  Pays only 50% of fuel + toll + small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074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✅  Reaches destination at near-zero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RESULT: Vehicle shifted ✦ Traveler travels ✦ Both pay HALF ✦ Everyone wins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Simple. Safe. Smart. — 6 Steps to a Successful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" y="1472184"/>
            <a:ext cx="658368" cy="658368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4173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OWNER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Owner lists their vehicle, cities, dates &amp; photos on the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2588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74903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98263" y="1472184"/>
            <a:ext cx="658368" cy="6583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146304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4173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039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TRAVELER APPLIES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2423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Verified traveler heading same route applies to drive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25880"/>
            <a:ext cx="3749039" cy="54864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75904" y="1472184"/>
            <a:ext cx="658368" cy="658368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146304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4173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39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2C"/>
                </a:solidFill>
                <a:latin typeface="Calibri"/>
              </a:rPr>
              <a:t>OWNER APPROVES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23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Owner reviews profile, rating &amp; DL — approves the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862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86200"/>
            <a:ext cx="3749039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0624" y="4032504"/>
            <a:ext cx="658368" cy="65836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02336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977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99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PAYMENT &amp; INSURANCE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83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Traveler pays their 50% share. Insurance auto-activates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8862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3886200"/>
            <a:ext cx="374903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98263" y="4032504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7" y="402336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199" y="3977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🛣️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39" y="4599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VEHICLE SHIFTS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39" y="4983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Traveler drives, GPS tracked, both get live updates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75904" y="4032504"/>
            <a:ext cx="658368" cy="6583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5048" y="402336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977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373737"/>
                </a:solidFill>
                <a:latin typeface="Calibri"/>
              </a:rPr>
              <a:t>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599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DELIVERY &amp;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9834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Owner confirms delivery. Both rate each other. Done!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 THE COST-SHARING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Numbers That Make Everyone Smile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48872" cy="621792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A2C"/>
                </a:solidFill>
                <a:latin typeface="Calibri"/>
              </a:rPr>
              <a:t>📍  Chennai  →  Bangalore  ·  Sedan  ·  346 km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212080" cy="4343400"/>
          </a:xfrm>
          <a:prstGeom prst="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2120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❌  WITHOUT SHIFTZY 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87168"/>
            <a:ext cx="5029200" cy="457200"/>
          </a:xfrm>
          <a:prstGeom prst="rect">
            <a:avLst/>
          </a:prstGeom>
          <a:solidFill>
            <a:srgbClr val="3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CC"/>
                </a:solidFill>
                <a:latin typeface="Calibri"/>
              </a:rPr>
              <a:t>Fuel (Sedan, 18 km/l)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5511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CCCC"/>
                </a:solidFill>
                <a:latin typeface="Calibri"/>
              </a:rPr>
              <a:t>₹2,697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08376"/>
            <a:ext cx="5029200" cy="457200"/>
          </a:xfrm>
          <a:prstGeom prst="rect">
            <a:avLst/>
          </a:prstGeom>
          <a:solidFill>
            <a:srgbClr val="3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723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CC"/>
                </a:solidFill>
                <a:latin typeface="Calibri"/>
              </a:rPr>
              <a:t>Toll charges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0723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CCCC"/>
                </a:solidFill>
                <a:latin typeface="Calibri"/>
              </a:rPr>
              <a:t>₹519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9584"/>
            <a:ext cx="5029200" cy="457200"/>
          </a:xfrm>
          <a:prstGeom prst="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93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Total cost if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593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  <a:latin typeface="Calibri"/>
              </a:rPr>
              <a:t>₹3,216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50791"/>
            <a:ext cx="5029200" cy="457200"/>
          </a:xfrm>
          <a:prstGeom prst="rect">
            <a:avLst/>
          </a:prstGeom>
          <a:solidFill>
            <a:srgbClr val="3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147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CC"/>
                </a:solidFill>
                <a:latin typeface="Calibri"/>
              </a:rPr>
              <a:t>Owner pays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1147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CCCC"/>
                </a:solidFill>
                <a:latin typeface="Calibri"/>
              </a:rPr>
              <a:t>₹3,216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72000"/>
            <a:ext cx="5029200" cy="457200"/>
          </a:xfrm>
          <a:prstGeom prst="rect">
            <a:avLst/>
          </a:prstGeom>
          <a:solidFill>
            <a:srgbClr val="3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CC"/>
                </a:solidFill>
                <a:latin typeface="Calibri"/>
              </a:rPr>
              <a:t>Traveler cost (bus+taxi)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36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CCCC"/>
                </a:solidFill>
                <a:latin typeface="Calibri"/>
              </a:rPr>
              <a:t>₹2,500+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93208"/>
            <a:ext cx="5029200" cy="457200"/>
          </a:xfrm>
          <a:prstGeom prst="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572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COMBINED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1572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  <a:latin typeface="Calibri"/>
              </a:rPr>
              <a:t>₹5,716+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6576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6A2C"/>
                </a:solidFill>
                <a:latin typeface="Calibri"/>
              </a:rPr>
              <a:t>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874519"/>
            <a:ext cx="5212080" cy="4343400"/>
          </a:xfrm>
          <a:prstGeom prst="rect">
            <a:avLst/>
          </a:prstGeom>
          <a:solidFill>
            <a:srgbClr val="12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1874519"/>
            <a:ext cx="52120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1938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✅  WITH SHIFTZY 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487168"/>
            <a:ext cx="5029200" cy="45720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5511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Full fuel + toll (shared)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5511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FFCC"/>
                </a:solidFill>
                <a:latin typeface="Calibri"/>
              </a:rPr>
              <a:t>₹3,216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008376"/>
            <a:ext cx="5029200" cy="45720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0723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Owner's 50% 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30723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FFCC"/>
                </a:solidFill>
                <a:latin typeface="Calibri"/>
              </a:rPr>
              <a:t>₹1,608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529584"/>
            <a:ext cx="5029200" cy="45720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593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Traveler's 50% 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3593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FFCC"/>
                </a:solidFill>
                <a:latin typeface="Calibri"/>
              </a:rPr>
              <a:t>₹1,608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4050791"/>
            <a:ext cx="5029200" cy="45720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41147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Platform fee + GST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41147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FFCC"/>
                </a:solidFill>
                <a:latin typeface="Calibri"/>
              </a:rPr>
              <a:t>₹190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4572000"/>
            <a:ext cx="5029200" cy="45720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4636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Traveler total payable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4636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FFCC"/>
                </a:solidFill>
                <a:latin typeface="Calibri"/>
              </a:rPr>
              <a:t>₹1,798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5093208"/>
            <a:ext cx="5029200" cy="457200"/>
          </a:xfrm>
          <a:prstGeom prst="rect">
            <a:avLst/>
          </a:prstGeom>
          <a:solidFill>
            <a:srgbClr val="1A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51572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COMBINED SPEND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78440" y="51572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7AE60"/>
                </a:solidFill>
                <a:latin typeface="Calibri"/>
              </a:rPr>
              <a:t>₹3,406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144768"/>
            <a:ext cx="11548872" cy="59436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190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🎉  Combined saving: ₹2,310 per trip  ·  Owner saves ₹1,608  ·  Traveler saves ₹702 vs bus+taxi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Massive, Untapped Market Waiting to Be Disrupted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43200" cy="640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97D"/>
                </a:solidFill>
                <a:latin typeface="Calibri"/>
              </a:rPr>
              <a:t>30 Crore+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762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3737"/>
                </a:solidFill>
                <a:latin typeface="Calibri"/>
              </a:rPr>
              <a:t>Registered vehicles
in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2588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25880"/>
            <a:ext cx="274320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A2C"/>
                </a:solidFill>
                <a:latin typeface="Calibri"/>
              </a:rPr>
              <a:t>₹85,000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762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3737"/>
                </a:solidFill>
                <a:latin typeface="Calibri"/>
              </a:rPr>
              <a:t>Annual vehicle logistics
market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74320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3 Crore+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762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3737"/>
                </a:solidFill>
                <a:latin typeface="Calibri"/>
              </a:rPr>
              <a:t>Intercity trips
per 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2588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25880"/>
            <a:ext cx="27432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  <a:latin typeface="Calibri"/>
              </a:rP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3737"/>
                </a:solidFill>
                <a:latin typeface="Calibri"/>
              </a:rPr>
              <a:t>Users open to cost-sharing
platforms (survey)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4564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94E"/>
                </a:solidFill>
                <a:latin typeface="Calibri"/>
              </a:rPr>
              <a:t>Market Sizing — TAM · SAM · SOM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77639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977639"/>
            <a:ext cx="64008" cy="71323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TAM — Total Addressable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616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All intercity vehicle transport &amp; travel in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42231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F497D"/>
                </a:solidFill>
                <a:latin typeface="Calibri"/>
              </a:rPr>
              <a:t>₹85,000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00600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800600"/>
            <a:ext cx="64008" cy="7132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73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SAM — Serviceable Addressable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84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Peer-to-peer vehicle shifting corridor (Tier 1 + 2 cities)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9651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2E86AB"/>
                </a:solidFill>
                <a:latin typeface="Calibri"/>
              </a:rPr>
              <a:t>₹12,000 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23559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623559"/>
            <a:ext cx="64008" cy="71323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967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2C"/>
                </a:solidFill>
                <a:latin typeface="Calibri"/>
              </a:rPr>
              <a:t>SOM — Serviceable Obtainable 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076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Shiftzy Go's realistic 3-year capture (0.3% of SAM)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788151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86A2C"/>
                </a:solidFill>
                <a:latin typeface="Calibri"/>
              </a:rPr>
              <a:t>₹360 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3364992"/>
            <a:ext cx="2926080" cy="329184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A2C"/>
                </a:solidFill>
                <a:latin typeface="Calibri"/>
              </a:rPr>
              <a:t>WHY NOW?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9502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📱  India's UPI/digital
payment boom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4714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🚦  Vehicle ownership
up 12% YoY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9926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💼  Post-pandemic
remote work = relocation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513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🌿  Sustainability push
= shared transport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6035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📍  No platform exists
for this exact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Multiple Revenue Streams — Built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4864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928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6A2C"/>
                </a:solidFill>
                <a:latin typeface="Calibri"/>
              </a:rPr>
              <a:t>Platform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10% of traveler's
50% share per trip.
Core revenue 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234440"/>
            <a:ext cx="374903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325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928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Insurance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12–15% distribution
fee on every per-trip
insurance premium.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23444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234440"/>
            <a:ext cx="3749039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325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Calibri"/>
              </a:rPr>
              <a:t>Premium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Vehicle owners pay
for featured placement
&amp; priority matching.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3749039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7947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3616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  <a:latin typeface="Calibri"/>
              </a:rPr>
              <a:t>Corporate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Company vehicle
shifts at bulk rates
(B2B segment).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70332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79" y="3703320"/>
            <a:ext cx="374903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37947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43616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Data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Fleet insights sold
to OEMs, insurers &amp;
logistics companies.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3703320"/>
            <a:ext cx="3749039" cy="224028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370332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37947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3616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  <a:latin typeface="Calibri"/>
              </a:rPr>
              <a:t>Ads &amp; Partnerships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Fuel brands, service
centres, toll operators
&amp; travel partners.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 INSURANCE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Safety First — Insurance is the Backbone of Shiftzy Go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640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3737"/>
                </a:solidFill>
                <a:latin typeface="Calibri"/>
              </a:rPr>
              <a:t>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97D"/>
                </a:solidFill>
                <a:latin typeface="Calibri"/>
              </a:rPr>
              <a:t>Vehicle Transit
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Covers physical damage to owner's vehicle from trip start to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74320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3737"/>
                </a:solidFill>
                <a:latin typeface="Calibri"/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A2C"/>
                </a:solidFill>
                <a:latin typeface="Calibri"/>
              </a:rPr>
              <a:t>Third-Party
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4320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Covers bodily injury &amp; property damage to third parties (MV Act 1988)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4320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3737"/>
                </a:solidFill>
                <a:latin typeface="Calibri"/>
              </a:rPr>
              <a:t>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AB"/>
                </a:solidFill>
                <a:latin typeface="Calibri"/>
              </a:rPr>
              <a:t>Personal Accident
Cover — Traveler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₹10 lakh accidental death/disability cover for the traveler during trip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371600"/>
            <a:ext cx="2743200" cy="640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3737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E44AD"/>
                </a:solidFill>
                <a:latin typeface="Calibri"/>
              </a:rPr>
              <a:t>Owner Legal
Liability 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Protects vehicle owner from legal liability from traveler's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537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94E"/>
                </a:solidFill>
                <a:latin typeface="Calibri"/>
              </a:rPr>
              <a:t>Why an Insurer Should Partner With 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7492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54864" cy="56692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1663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🥇 First-Mover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51663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No existing product covers peer-to-peer vehicle transit in India — own this category exclusively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7492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074920"/>
            <a:ext cx="54864" cy="56692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1663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📈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1663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₹15–25 lakh premium Year 1 → ₹3–5 crore by Year 3 → growing automatically with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733288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733288"/>
            <a:ext cx="54864" cy="56692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824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🔒 Low Claims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58247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Pre-trip photos, GPS tracking, DL verification &amp; rating system significantly reduce fraud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733288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733288"/>
            <a:ext cx="54864" cy="56692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5824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💎 Premium Demographic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58247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Users aged 21–40, digital-native, creditworthy — most valuable insurance segment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  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Complete, Technology-First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88920" cy="4572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 Mobile-First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Intuitive iOS &amp; Android experience with seamless booking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23444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55263" y="1234440"/>
            <a:ext cx="27889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3" y="13258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🔍  Smart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3" y="176479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AI-powered route &amp; date matching between owners and travelers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23444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7" y="1234440"/>
            <a:ext cx="278892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7" y="13258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KYC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7" y="176479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Aadhaar + DL verification before any traveler can 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23444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17152" y="1234440"/>
            <a:ext cx="2788920" cy="4572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13258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📸  Pre-Trip Photos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76479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Time-stamped, geo-tagged inspection photos for every trip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7180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971800"/>
            <a:ext cx="27889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🗺️  Live GPS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50215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Real-time route monitoring for both parties during transit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5263" y="297180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55263" y="2971800"/>
            <a:ext cx="278892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423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💬  In-App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2423" y="350215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Direct, encrypted messaging between owner and traveler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297180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7" y="2971800"/>
            <a:ext cx="2788920" cy="4572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7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💳  Secure 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7" y="350215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Stripe-powered payments with transparent fee breakdown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17152" y="297180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17152" y="2971800"/>
            <a:ext cx="27889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⭐  Dual Rating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50215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5-star ratings for both travelers and vehicle owners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0916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709160"/>
            <a:ext cx="278892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800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🛡️  Auto-Insurance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23951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Insurance policy auto-generated and delivered at booking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5263" y="470916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55263" y="4709160"/>
            <a:ext cx="2788920" cy="4572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3" y="4800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🤖  AI Chat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2423" y="523951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24/7 intelligent FAQ bot with human escalation path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470916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36207" y="4709160"/>
            <a:ext cx="27889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367" y="4800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 Admin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7" y="523951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Real-time operational metrics, fraud monitoring &amp; controls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17152" y="4709160"/>
            <a:ext cx="2788920" cy="1572768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17152" y="4709160"/>
            <a:ext cx="278892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4312" y="4800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🔔  Smart Notifications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54312" y="523951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Push alerts for trip status, approvals &amp;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  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Conservative, Milestone-Based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359152" cy="475488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081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325880"/>
            <a:ext cx="2359152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081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325880"/>
            <a:ext cx="2359152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081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325880"/>
            <a:ext cx="2359152" cy="47548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408176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28800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202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Active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828800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9202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7 (South India)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828800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9202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20 (Pan India)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828800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9202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35+ cities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95728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4871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Monthly Trips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2395728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4871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500 – 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395728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24871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2,500 – 4,000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395728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4871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10,000+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62656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05409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Annual Trips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2962656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305409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~8,000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2962656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305409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~40,000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2962656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05409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~1,50,000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29584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62102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Registered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3529584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362102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25,000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3529584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60" y="362102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1,50,000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3529584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362102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5,00,000+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096512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1879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Platform Fee Revenue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4096512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41879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₹60 – 80 Lakh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4096512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41879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₹3 – 4.5 Crore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4096512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41879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₹12 – 20 Crore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663440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7548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Insurance Premium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4663440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47548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₹15 – 25 Lakh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74920" y="4663440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66360" y="47548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₹75L – 1.2 Crore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52360" y="4663440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47548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3737"/>
                </a:solidFill>
                <a:latin typeface="Calibri"/>
              </a:rPr>
              <a:t>₹3 – 5 Crore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230367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321807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Total Revenue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97480" y="5230367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5321807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₹75 Lakh – 1 Crore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4920" y="5230367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66360" y="5321807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₹4 – 6 Crore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5230367"/>
            <a:ext cx="235915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43800" y="5321807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₹15 – 25 Crore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797296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588873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94E"/>
                </a:solidFill>
                <a:latin typeface="Calibri"/>
              </a:rPr>
              <a:t>Net Margin (est.)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97480" y="5797296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88920" y="588873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–15% (invest phase)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4920" y="5797296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66360" y="588873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12 – 18%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52360" y="5797296"/>
            <a:ext cx="2359152" cy="5394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588873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22 – 28%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66960" y="1325880"/>
            <a:ext cx="1920240" cy="5321808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1268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6A2C"/>
                </a:solidFill>
                <a:latin typeface="Calibri"/>
              </a:rPr>
              <a:t>KEY
ASSUMPTIONS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12680" y="21214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Avg. trip value
₹1,800 – ₹3,500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12680" y="277977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Platform fee
10% of traveler
share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12680" y="343814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Insurance comm.
12% of premium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12680" y="409651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CAC (cost/user)
₹120 Y1 → ₹60 Y3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12680" y="4754879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Churn &lt;8%
month-on-month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541324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8"/>
                </a:solidFill>
                <a:latin typeface="Calibri"/>
              </a:rPr>
              <a:t>B2B corporate
from Month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 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Phases. One Vision — India's #1 Vehicle Shifting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1064240" cy="73152"/>
          </a:xfrm>
          <a:prstGeom prst="rect">
            <a:avLst/>
          </a:prstGeom>
          <a:solidFill>
            <a:srgbClr val="405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88920" cy="438912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8892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344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258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Calibri"/>
              </a:rPr>
              <a:t>Months
1 –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733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2C"/>
                </a:solidFill>
                <a:latin typeface="Calibri"/>
              </a:rPr>
              <a:t>🌱 South India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2402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Chennai, Bangalore,
Hyderabad, Coimbatore,
Madurai, Tirunelveli, Kochi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449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500–800 trips/month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849624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Basic transit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65429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25,000 users</a:t>
            </a:r>
          </a:p>
        </p:txBody>
      </p:sp>
      <p:sp>
        <p:nvSpPr>
          <p:cNvPr id="16" name="Oval 15"/>
          <p:cNvSpPr/>
          <p:nvPr/>
        </p:nvSpPr>
        <p:spPr>
          <a:xfrm>
            <a:off x="1527048" y="3785616"/>
            <a:ext cx="274320" cy="274320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5263" y="1234440"/>
            <a:ext cx="2788920" cy="438912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5263" y="1234440"/>
            <a:ext cx="278892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92423" y="1344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3" y="13258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Calibri"/>
              </a:rPr>
              <a:t>Months
12 – 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3" y="16733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🚀 Pan-India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5" y="22402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Mumbai, Pune, Delhi NCR,
Ahmedabad, Jaipur, Kolkata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5" y="30449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2,500–4,000 trips/month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5" y="3849624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Corporate fleet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5" y="465429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1,50,000 users</a:t>
            </a:r>
          </a:p>
        </p:txBody>
      </p:sp>
      <p:sp>
        <p:nvSpPr>
          <p:cNvPr id="26" name="Oval 25"/>
          <p:cNvSpPr/>
          <p:nvPr/>
        </p:nvSpPr>
        <p:spPr>
          <a:xfrm>
            <a:off x="4507991" y="3785616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7" y="1234440"/>
            <a:ext cx="2788920" cy="438912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7" y="1234440"/>
            <a:ext cx="2788920" cy="640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7" y="1344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7" y="13258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Calibri"/>
              </a:rPr>
              <a:t>Months
24 – 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7" y="16733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⚡ Platform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22402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All metro + Tier 2 cities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30449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OEM dealer partnerships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9" y="3849624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Annual subscription 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799" y="465429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5,00,000 users</a:t>
            </a:r>
          </a:p>
        </p:txBody>
      </p:sp>
      <p:sp>
        <p:nvSpPr>
          <p:cNvPr id="36" name="Oval 35"/>
          <p:cNvSpPr/>
          <p:nvPr/>
        </p:nvSpPr>
        <p:spPr>
          <a:xfrm>
            <a:off x="7488935" y="3785616"/>
            <a:ext cx="274320" cy="27432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7152" y="1234440"/>
            <a:ext cx="2788920" cy="438912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17152" y="1234440"/>
            <a:ext cx="278892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54312" y="1344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13258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Calibri"/>
              </a:rPr>
              <a:t>Years
3 –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16733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🏆 Market Leadership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1744" y="22402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30+ cities + int'l corridors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4" y="304495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10,000+ trips/month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3849624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IPO readiness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465429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▸  10 lakh+ users</a:t>
            </a:r>
          </a:p>
        </p:txBody>
      </p:sp>
      <p:sp>
        <p:nvSpPr>
          <p:cNvPr id="46" name="Oval 45"/>
          <p:cNvSpPr/>
          <p:nvPr/>
        </p:nvSpPr>
        <p:spPr>
          <a:xfrm>
            <a:off x="10469880" y="3785616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C"/>
                </a:solidFill>
                <a:latin typeface="Calibri"/>
              </a:rPr>
              <a:t>Month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6419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500 insured trips/month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78608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C"/>
                </a:solidFill>
                <a:latin typeface="Calibri"/>
              </a:rPr>
              <a:t>Month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6419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₹1 Cr revenue run-rate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4336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C"/>
                </a:solidFill>
                <a:latin typeface="Calibri"/>
              </a:rPr>
              <a:t>Month 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4336" y="6419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Pan-India live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C"/>
                </a:solidFill>
                <a:latin typeface="Calibri"/>
              </a:rPr>
              <a:t>Month 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0064" y="6419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Profitability milestone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65792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C"/>
                </a:solidFill>
                <a:latin typeface="Calibri"/>
              </a:rPr>
              <a:t>Year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65792" y="6419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₹15–25 Cr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  WHY INVEST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 Compelling Reasons to Bet on Shiftzy 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64008" cy="89611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" y="1499616"/>
            <a:ext cx="640080" cy="64008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ZERO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4813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No existing platform in India solves peer-to-peer vehicle shifting + travel cost-sharing together. First-mover advantage in a ₹85,000 Cr market.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59152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64008" cy="8961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" y="2487168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68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ASSET-LIGHT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6888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We own no vehicles. No fleet. No drivers. Pure marketplace — highly scalable with minimal capital, similar to Airbnb and Uber in their early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16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46704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346704"/>
            <a:ext cx="64008" cy="89611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" y="3474720"/>
            <a:ext cx="640080" cy="640080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56432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2C"/>
                </a:solidFill>
                <a:latin typeface="Calibri"/>
              </a:rPr>
              <a:t>DUAL-SIDED NETWORK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456432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Every new vehicle owner attracts travelers; every new traveler attracts owners. Network effects compound growth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03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2C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34256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334256"/>
            <a:ext cx="64008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9768" y="4462272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43984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443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MULTIPLE REVENUE STREAMS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443984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Platform fees + insurance commissions + premium listings + corporate accounts + data analytics. Diversified from Day 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791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321808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321808"/>
            <a:ext cx="64008" cy="8961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9768" y="5449824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31536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STRONG SOCIAL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31536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Calibri"/>
              </a:rPr>
              <a:t>Reduces individual carbon footprint, makes vehicle ownership costs bearable, creates income opportunity for travelers. ESG-aligned investment.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7790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172200"/>
            <a:ext cx="11548872" cy="566928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21792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6A2C"/>
                </a:solidFill>
                <a:latin typeface="Calibri"/>
              </a:rPr>
              <a:t>💡  We are seeking ₹2 – 5 Crore in Seed / Pre-Series A funding to fuel Phase 1 &amp; 2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Let's Build This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6A2C"/>
                </a:solidFill>
                <a:latin typeface="Calibri"/>
              </a:rPr>
              <a:t>Shiftzy Go is ready. The market is ready. Are you?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39496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112264"/>
            <a:ext cx="585216" cy="585216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1109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Sign 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Confidentiality agreement to share detailed business &amp; financial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783080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783080"/>
            <a:ext cx="539496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2112264"/>
            <a:ext cx="585216" cy="5852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10312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1109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Due Diligence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317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Open books — financials, tech, user data, legal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27832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227832"/>
            <a:ext cx="539496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3557016"/>
            <a:ext cx="585216" cy="585216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5478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55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Term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776472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Agree principal commercial terms (for investors or insurance partner)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227832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227832"/>
            <a:ext cx="539496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3557016"/>
            <a:ext cx="585216" cy="5852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5478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355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Pilot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76472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100-trip pilot on Chennai–Bangalore to validate model &amp; claims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72584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672584"/>
            <a:ext cx="5394960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5001768"/>
            <a:ext cx="585216" cy="585216"/>
          </a:xfrm>
          <a:prstGeom prst="ellipse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99262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800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Agreement Signing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22122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Formal investment, distribution, or insurance partnership agreement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672584"/>
            <a:ext cx="5394960" cy="1234440"/>
          </a:xfrm>
          <a:prstGeom prst="rect">
            <a:avLst/>
          </a:prstGeom>
          <a:solidFill>
            <a:srgbClr val="1F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672584"/>
            <a:ext cx="539496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5001768"/>
            <a:ext cx="585216" cy="5852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499262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800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Commercial Launch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22122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Go live across 7 South India cities with full insurance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53328"/>
            <a:ext cx="11091672" cy="66751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26480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📧  business@shiftzygo.com   |   📱  +91 XXXXX XXXXX   |   🌐  www.shiftzygo.com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926080"/>
            <a:ext cx="5760720" cy="54864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E86A2C"/>
                </a:solidFill>
                <a:latin typeface="Calibri"/>
              </a:rPr>
              <a:t>Shiftzy Go  —  Shift Smart. Travel 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Calibri"/>
              </a:rPr>
              <a:t>India's Smart Vehicle Shifting &amp; Travel Cost-Sharing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217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9E9E"/>
                </a:solidFill>
                <a:latin typeface="Calibri"/>
              </a:rPr>
              <a:t>© 2026 Shiftzy Go Technologies Pvt. Ltd.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